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bold r:id="rId9"/>
    </p:embeddedFont>
    <p:embeddedFont>
      <p:font typeface="Saira Stencil On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74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hyperlink" Target="https://canva.link/zc2tuqkq342gdsm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canva.link/zc2tuqkq342gdsm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jpe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5" Type="http://schemas.openxmlformats.org/officeDocument/2006/relationships/hyperlink" Target="https://canva.link/zc2tuqkq342gdsm" TargetMode="Externa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canva.link/zc2tuqkq342gdsm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canva.link/zc2tuqkq342gdsm" TargetMode="Externa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hyperlink" Target="https://justchenhao.github.io/LEVIR/" TargetMode="External"/><Relationship Id="rId18" Type="http://schemas.openxmlformats.org/officeDocument/2006/relationships/hyperlink" Target="https://www.millenniumpost.in/opinion/wetlands-at-the-crossroads-654371" TargetMode="External"/><Relationship Id="rId3" Type="http://schemas.openxmlformats.org/officeDocument/2006/relationships/image" Target="../media/image6.png"/><Relationship Id="rId21" Type="http://schemas.openxmlformats.org/officeDocument/2006/relationships/hyperlink" Target="https://fedscoop.com/xview2-challenge-building-damage-disaster-recovery/" TargetMode="External"/><Relationship Id="rId7" Type="http://schemas.openxmlformats.org/officeDocument/2006/relationships/image" Target="../media/image8.png"/><Relationship Id="rId12" Type="http://schemas.openxmlformats.org/officeDocument/2006/relationships/hyperlink" Target="https://github.com/justchenhao/BIT_CD" TargetMode="External"/><Relationship Id="rId17" Type="http://schemas.openxmlformats.org/officeDocument/2006/relationships/hyperlink" Target="https://www.worldbank.org/en/news/press-release/2025/07/22/india-has-a-critical-opportunity-to-drive-resilient-urban-development-says-new-world-bank-report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factly.in/data-average-annual-economic-impact-due-to-floods-is-more-than-rs-25000-crores-after-the-year-2010" TargetMode="External"/><Relationship Id="rId20" Type="http://schemas.openxmlformats.org/officeDocument/2006/relationships/hyperlink" Target="https://indianmasterminds.com/feature-stories-on-bureaucrats-changemakers/from-code-to-conservation-how-this-ifs-officer-is-using-ai-satellite-data-to-fight-deforestation-in-mp-121910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hyperlink" Target="https://doi.org/10.3390/rs70810347" TargetMode="External"/><Relationship Id="rId5" Type="http://schemas.openxmlformats.org/officeDocument/2006/relationships/hyperlink" Target="https://canva.link/zc2tuqkq342gdsm" TargetMode="External"/><Relationship Id="rId15" Type="http://schemas.openxmlformats.org/officeDocument/2006/relationships/hyperlink" Target="https://github.com/cloudtostreet/Sen1Floods11" TargetMode="External"/><Relationship Id="rId10" Type="http://schemas.openxmlformats.org/officeDocument/2006/relationships/hyperlink" Target="https://arxiv.org/abs/2609.37013" TargetMode="External"/><Relationship Id="rId19" Type="http://schemas.openxmlformats.org/officeDocument/2006/relationships/hyperlink" Target="https://www.business-standard.com/india-news/mp-first-state-to-launch-ai-based-real-time-forest-alert-system-officials-125042900640_1.html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s://doi.org/10.34133/remotesensing.0929" TargetMode="External"/><Relationship Id="rId14" Type="http://schemas.openxmlformats.org/officeDocument/2006/relationships/hyperlink" Target="https://www.kaggle.com/datasets/soumikrakshit/onera-satellite-change-detection-dataset" TargetMode="External"/><Relationship Id="rId22" Type="http://schemas.openxmlformats.org/officeDocument/2006/relationships/hyperlink" Target="https://unitar.org/about/news-stories/news/unosat-introduces-ai-its-flood-rapid-mapping-operations-benefit-national-disaster-manage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5704" y="2538332"/>
            <a:ext cx="15016591" cy="5210337"/>
            <a:chOff x="0" y="0"/>
            <a:chExt cx="20022122" cy="694711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8417159" cy="6947116"/>
              <a:chOff x="0" y="0"/>
              <a:chExt cx="18417159" cy="694711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8417160" cy="6947154"/>
              </a:xfrm>
              <a:custGeom>
                <a:avLst/>
                <a:gdLst/>
                <a:ahLst/>
                <a:cxnLst/>
                <a:rect l="l" t="t" r="r" b="b"/>
                <a:pathLst>
                  <a:path w="18417160" h="6947154">
                    <a:moveTo>
                      <a:pt x="0" y="0"/>
                    </a:moveTo>
                    <a:lnTo>
                      <a:pt x="18417160" y="0"/>
                    </a:lnTo>
                    <a:lnTo>
                      <a:pt x="18417160" y="6947154"/>
                    </a:lnTo>
                    <a:lnTo>
                      <a:pt x="0" y="694715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>
                  <a:alphaModFix amt="19599"/>
                </a:blip>
                <a:stretch>
                  <a:fillRect l="-25" r="-25"/>
                </a:stretch>
              </a:blip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7429767" y="2333777"/>
              <a:ext cx="12592355" cy="3207563"/>
              <a:chOff x="0" y="0"/>
              <a:chExt cx="12592355" cy="320756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592304" cy="3207512"/>
              </a:xfrm>
              <a:custGeom>
                <a:avLst/>
                <a:gdLst/>
                <a:ahLst/>
                <a:cxnLst/>
                <a:rect l="l" t="t" r="r" b="b"/>
                <a:pathLst>
                  <a:path w="12592304" h="3207512">
                    <a:moveTo>
                      <a:pt x="0" y="0"/>
                    </a:moveTo>
                    <a:lnTo>
                      <a:pt x="12592304" y="0"/>
                    </a:lnTo>
                    <a:lnTo>
                      <a:pt x="12592304" y="3207512"/>
                    </a:lnTo>
                    <a:lnTo>
                      <a:pt x="0" y="32075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alphaModFix amt="19599"/>
                </a:blip>
                <a:stretch>
                  <a:fillRect t="-361" b="-362"/>
                </a:stretch>
              </a:blip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394854" y="538991"/>
            <a:ext cx="2080317" cy="928773"/>
            <a:chOff x="0" y="0"/>
            <a:chExt cx="2773756" cy="12383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73807" cy="1238377"/>
            </a:xfrm>
            <a:custGeom>
              <a:avLst/>
              <a:gdLst/>
              <a:ahLst/>
              <a:cxnLst/>
              <a:rect l="l" t="t" r="r" b="b"/>
              <a:pathLst>
                <a:path w="2773807" h="1238377">
                  <a:moveTo>
                    <a:pt x="0" y="0"/>
                  </a:moveTo>
                  <a:lnTo>
                    <a:pt x="2773807" y="0"/>
                  </a:lnTo>
                  <a:lnTo>
                    <a:pt x="2773807" y="1238377"/>
                  </a:lnTo>
                  <a:lnTo>
                    <a:pt x="0" y="1238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" r="1" b="-38"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2632334" y="686334"/>
            <a:ext cx="0" cy="71671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2784739" y="731891"/>
            <a:ext cx="2084390" cy="610067"/>
            <a:chOff x="0" y="0"/>
            <a:chExt cx="2101888" cy="6151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1850" cy="615188"/>
            </a:xfrm>
            <a:custGeom>
              <a:avLst/>
              <a:gdLst/>
              <a:ahLst/>
              <a:cxnLst/>
              <a:rect l="l" t="t" r="r" b="b"/>
              <a:pathLst>
                <a:path w="2101850" h="615188">
                  <a:moveTo>
                    <a:pt x="0" y="0"/>
                  </a:moveTo>
                  <a:lnTo>
                    <a:pt x="2101850" y="0"/>
                  </a:lnTo>
                  <a:lnTo>
                    <a:pt x="2101850" y="615188"/>
                  </a:lnTo>
                  <a:lnTo>
                    <a:pt x="0" y="615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4" r="-1" b="-14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233550" y="209645"/>
            <a:ext cx="1794748" cy="1241384"/>
            <a:chOff x="0" y="0"/>
            <a:chExt cx="2392998" cy="16551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92934" cy="1655191"/>
            </a:xfrm>
            <a:custGeom>
              <a:avLst/>
              <a:gdLst/>
              <a:ahLst/>
              <a:cxnLst/>
              <a:rect l="l" t="t" r="r" b="b"/>
              <a:pathLst>
                <a:path w="2392934" h="1655191">
                  <a:moveTo>
                    <a:pt x="0" y="0"/>
                  </a:moveTo>
                  <a:lnTo>
                    <a:pt x="2392934" y="0"/>
                  </a:lnTo>
                  <a:lnTo>
                    <a:pt x="2392934" y="1655191"/>
                  </a:lnTo>
                  <a:lnTo>
                    <a:pt x="0" y="1655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00" r="-2" b="-99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412910" y="2527840"/>
            <a:ext cx="15453359" cy="7301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744" lvl="2" indent="-304581" algn="l">
              <a:lnSpc>
                <a:spcPts val="8345"/>
              </a:lnSpc>
              <a:buFont typeface="Arial"/>
              <a:buChar char="⚬"/>
            </a:pPr>
            <a:r>
              <a:rPr lang="en-US" sz="399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r>
              <a:rPr lang="en-US" sz="399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GEOAI 04</a:t>
            </a:r>
          </a:p>
          <a:p>
            <a:pPr marL="913744" lvl="2" indent="-304581" algn="l">
              <a:lnSpc>
                <a:spcPts val="8345"/>
              </a:lnSpc>
              <a:buFont typeface="Arial"/>
              <a:buChar char="⚬"/>
            </a:pPr>
            <a:r>
              <a:rPr lang="en-US" sz="399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lang="en-US" sz="399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Bi-Temporal Satellite Change Detection for Rapid Urban Encroachment &amp; Disaster Impact</a:t>
            </a:r>
          </a:p>
          <a:p>
            <a:pPr marL="913744" lvl="2" indent="-304581" algn="l">
              <a:lnSpc>
                <a:spcPts val="8345"/>
              </a:lnSpc>
              <a:buFont typeface="Arial"/>
              <a:buChar char="⚬"/>
            </a:pPr>
            <a:r>
              <a:rPr lang="en-US" sz="399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Name-</a:t>
            </a:r>
            <a:r>
              <a:rPr lang="en-US" sz="399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96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Slothdevs</a:t>
            </a:r>
            <a:endParaRPr lang="en-US" sz="3996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3744" lvl="2" indent="-304581" algn="l">
              <a:lnSpc>
                <a:spcPts val="8345"/>
              </a:lnSpc>
              <a:buFont typeface="Arial"/>
              <a:buChar char="⚬"/>
            </a:pPr>
            <a:r>
              <a:rPr lang="en-US" sz="399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Leader Name- </a:t>
            </a:r>
            <a:r>
              <a:rPr lang="en-US" sz="399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Soham Patki</a:t>
            </a:r>
          </a:p>
          <a:p>
            <a:pPr marL="913744" lvl="2" indent="-304581" algn="l">
              <a:lnSpc>
                <a:spcPts val="8345"/>
              </a:lnSpc>
              <a:buFont typeface="Arial"/>
              <a:buChar char="⚬"/>
            </a:pPr>
            <a:r>
              <a:rPr lang="en-US" sz="399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Members Names- </a:t>
            </a:r>
            <a:r>
              <a:rPr lang="en-US" sz="399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Vedashree Bhanage, Ayush More, Shreyas </a:t>
            </a:r>
            <a:r>
              <a:rPr lang="en-US" sz="3996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Yeole</a:t>
            </a:r>
            <a:endParaRPr lang="en-US" sz="3996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-249185" y="10077367"/>
            <a:ext cx="18887060" cy="0"/>
          </a:xfrm>
          <a:prstGeom prst="line">
            <a:avLst/>
          </a:prstGeom>
          <a:ln w="647700" cap="rnd">
            <a:solidFill>
              <a:srgbClr val="379B9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8229186" y="9696774"/>
            <a:ext cx="1829629" cy="592293"/>
            <a:chOff x="0" y="0"/>
            <a:chExt cx="2439505" cy="7897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9543" cy="789686"/>
            </a:xfrm>
            <a:custGeom>
              <a:avLst/>
              <a:gdLst/>
              <a:ahLst/>
              <a:cxnLst/>
              <a:rect l="l" t="t" r="r" b="b"/>
              <a:pathLst>
                <a:path w="2439543" h="789686">
                  <a:moveTo>
                    <a:pt x="0" y="0"/>
                  </a:moveTo>
                  <a:lnTo>
                    <a:pt x="2439543" y="0"/>
                  </a:lnTo>
                  <a:lnTo>
                    <a:pt x="2439543" y="789686"/>
                  </a:lnTo>
                  <a:lnTo>
                    <a:pt x="0" y="789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248" b="-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1238738" y="258108"/>
            <a:ext cx="3708353" cy="1193406"/>
            <a:chOff x="0" y="0"/>
            <a:chExt cx="4944471" cy="1591208"/>
          </a:xfrm>
        </p:grpSpPr>
        <p:grpSp>
          <p:nvGrpSpPr>
            <p:cNvPr id="19" name="Group 19"/>
            <p:cNvGrpSpPr/>
            <p:nvPr/>
          </p:nvGrpSpPr>
          <p:grpSpPr>
            <a:xfrm>
              <a:off x="1778610" y="631711"/>
              <a:ext cx="780517" cy="702462"/>
              <a:chOff x="0" y="0"/>
              <a:chExt cx="780517" cy="702462"/>
            </a:xfrm>
          </p:grpSpPr>
          <p:sp>
            <p:nvSpPr>
              <p:cNvPr id="20" name="Freeform 20">
                <a:hlinkClick r:id="rId9" tooltip="https://canva.link/zc2tuqkq342gdsm"/>
              </p:cNvPr>
              <p:cNvSpPr/>
              <p:nvPr/>
            </p:nvSpPr>
            <p:spPr>
              <a:xfrm>
                <a:off x="0" y="0"/>
                <a:ext cx="780542" cy="702437"/>
              </a:xfrm>
              <a:custGeom>
                <a:avLst/>
                <a:gdLst/>
                <a:ahLst/>
                <a:cxnLst/>
                <a:rect l="l" t="t" r="r" b="b"/>
                <a:pathLst>
                  <a:path w="780542" h="702437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r="3" b="-3"/>
                </a:stretch>
              </a:blip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2581961" y="730987"/>
              <a:ext cx="2362510" cy="661055"/>
              <a:chOff x="0" y="0"/>
              <a:chExt cx="2062290" cy="5770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062226" cy="577088"/>
              </a:xfrm>
              <a:custGeom>
                <a:avLst/>
                <a:gdLst/>
                <a:ahLst/>
                <a:cxnLst/>
                <a:rect l="l" t="t" r="r" b="b"/>
                <a:pathLst>
                  <a:path w="2062226" h="577088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t="-125" r="-3" b="-121"/>
                </a:stretch>
              </a:blip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1994510" cy="1591208"/>
              <a:chOff x="0" y="0"/>
              <a:chExt cx="1994510" cy="159120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94535" cy="1591183"/>
              </a:xfrm>
              <a:custGeom>
                <a:avLst/>
                <a:gdLst/>
                <a:ahLst/>
                <a:cxnLst/>
                <a:rect l="l" t="t" r="r" b="b"/>
                <a:pathLst>
                  <a:path w="1994535" h="1591183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12672" r="1" b="-12674"/>
                </a:stretch>
              </a:blipFill>
            </p:spPr>
          </p:sp>
        </p:grpSp>
      </p:grpSp>
      <p:grpSp>
        <p:nvGrpSpPr>
          <p:cNvPr id="25" name="Group 25"/>
          <p:cNvGrpSpPr/>
          <p:nvPr/>
        </p:nvGrpSpPr>
        <p:grpSpPr>
          <a:xfrm>
            <a:off x="6035053" y="209645"/>
            <a:ext cx="3789807" cy="1314589"/>
            <a:chOff x="0" y="0"/>
            <a:chExt cx="5053077" cy="175278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53077" cy="1752786"/>
            </a:xfrm>
            <a:custGeom>
              <a:avLst/>
              <a:gdLst/>
              <a:ahLst/>
              <a:cxnLst/>
              <a:rect l="l" t="t" r="r" b="b"/>
              <a:pathLst>
                <a:path w="5053077" h="1752786">
                  <a:moveTo>
                    <a:pt x="0" y="0"/>
                  </a:moveTo>
                  <a:lnTo>
                    <a:pt x="5053077" y="0"/>
                  </a:lnTo>
                  <a:lnTo>
                    <a:pt x="5053077" y="1752786"/>
                  </a:lnTo>
                  <a:lnTo>
                    <a:pt x="0" y="175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3728319" y="1236197"/>
              <a:ext cx="1020006" cy="516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06"/>
                </a:lnSpc>
              </a:pPr>
              <a:r>
                <a:rPr lang="en-US" sz="2361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566160" y="320040"/>
            <a:ext cx="1115568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372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NETRA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448555" y="9643110"/>
            <a:ext cx="19185107" cy="647700"/>
            <a:chOff x="0" y="0"/>
            <a:chExt cx="25580142" cy="863600"/>
          </a:xfrm>
        </p:grpSpPr>
        <p:sp>
          <p:nvSpPr>
            <p:cNvPr id="5" name="AutoShape 5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w="863600" cap="rnd">
              <a:solidFill>
                <a:srgbClr val="379B9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11570325" y="49517"/>
              <a:ext cx="2439505" cy="789724"/>
              <a:chOff x="0" y="0"/>
              <a:chExt cx="2439505" cy="7897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9543" cy="789686"/>
              </a:xfrm>
              <a:custGeom>
                <a:avLst/>
                <a:gdLst/>
                <a:ahLst/>
                <a:cxnLst/>
                <a:rect l="l" t="t" r="r" b="b"/>
                <a:pathLst>
                  <a:path w="2439543" h="789686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248" b="-4"/>
                </a:stretch>
              </a:blipFill>
            </p:spPr>
          </p:sp>
        </p:grpSp>
      </p:grpSp>
      <p:grpSp>
        <p:nvGrpSpPr>
          <p:cNvPr id="8" name="Group 8"/>
          <p:cNvGrpSpPr/>
          <p:nvPr/>
        </p:nvGrpSpPr>
        <p:grpSpPr>
          <a:xfrm>
            <a:off x="15511797" y="109032"/>
            <a:ext cx="2651295" cy="919668"/>
            <a:chOff x="0" y="0"/>
            <a:chExt cx="3535060" cy="12262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35060" cy="1226224"/>
            </a:xfrm>
            <a:custGeom>
              <a:avLst/>
              <a:gdLst/>
              <a:ahLst/>
              <a:cxnLst/>
              <a:rect l="l" t="t" r="r" b="b"/>
              <a:pathLst>
                <a:path w="3535060" h="1226224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2608279" y="860043"/>
              <a:ext cx="713581" cy="366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56" y="-115948"/>
            <a:ext cx="3511729" cy="1130129"/>
            <a:chOff x="0" y="0"/>
            <a:chExt cx="4682305" cy="1506839"/>
          </a:xfrm>
        </p:grpSpPr>
        <p:grpSp>
          <p:nvGrpSpPr>
            <p:cNvPr id="12" name="Group 12"/>
            <p:cNvGrpSpPr/>
            <p:nvPr/>
          </p:nvGrpSpPr>
          <p:grpSpPr>
            <a:xfrm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id="13" name="Freeform 13">
                <a:hlinkClick r:id="rId5" tooltip="https://canva.link/zc2tuqkq342gdsm"/>
              </p:cNvPr>
              <p:cNvSpPr/>
              <p:nvPr/>
            </p:nvSpPr>
            <p:spPr>
              <a:xfrm>
                <a:off x="0" y="0"/>
                <a:ext cx="780542" cy="702437"/>
              </a:xfrm>
              <a:custGeom>
                <a:avLst/>
                <a:gdLst/>
                <a:ahLst/>
                <a:cxnLst/>
                <a:rect l="l" t="t" r="r" b="b"/>
                <a:pathLst>
                  <a:path w="780542" h="702437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3" b="-3"/>
                </a:stretch>
              </a:blip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062226" cy="577088"/>
              </a:xfrm>
              <a:custGeom>
                <a:avLst/>
                <a:gdLst/>
                <a:ahLst/>
                <a:cxnLst/>
                <a:rect l="l" t="t" r="r" b="b"/>
                <a:pathLst>
                  <a:path w="2062226" h="577088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25" r="-3" b="-121"/>
                </a:stretch>
              </a:blip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994535" cy="1591183"/>
              </a:xfrm>
              <a:custGeom>
                <a:avLst/>
                <a:gdLst/>
                <a:ahLst/>
                <a:cxnLst/>
                <a:rect l="l" t="t" r="r" b="b"/>
                <a:pathLst>
                  <a:path w="1994535" h="1591183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2672" r="1" b="-12674"/>
                </a:stretch>
              </a:blipFill>
            </p:spPr>
          </p:sp>
        </p:grpSp>
      </p:grpSp>
      <p:sp>
        <p:nvSpPr>
          <p:cNvPr id="18" name="Oval 17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548640" y="1413113"/>
            <a:ext cx="384048" cy="2461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1382336"/>
            <a:ext cx="4617720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OBJECTIVE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82880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749808" y="1915234"/>
            <a:ext cx="4718303" cy="2341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1" i="0" dirty="0">
                <a:latin typeface="Arial"/>
              </a:rPr>
              <a:t>NETRA</a:t>
            </a:r>
            <a:r>
              <a:rPr sz="1700" b="0" i="0" dirty="0">
                <a:latin typeface="Arial"/>
              </a:rPr>
              <a:t> is a web app that compares a before and an after satellite image of the same area and shows only the changes that are real: flooding, new construction, encroachment and vegetation loss.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 dirty="0">
                <a:latin typeface="Arial"/>
              </a:rPr>
              <a:t>Every change is a ranked, GIS-ready polygon with its area, severity tier and a one-line reason, for disaster, urban and forest officers.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0" y="1344168"/>
            <a:ext cx="384048" cy="384048"/>
          </a:xfrm>
          <a:prstGeom prst="ellipse">
            <a:avLst/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5943600" y="1413113"/>
            <a:ext cx="384048" cy="2461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382336"/>
            <a:ext cx="11292840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 dirty="0">
                <a:solidFill>
                  <a:srgbClr val="111111"/>
                </a:solidFill>
                <a:latin typeface="Arial"/>
              </a:rPr>
              <a:t>THE PROBLEM, AND HOW NETRA SOLVES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1828800"/>
            <a:ext cx="3749039" cy="1143000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6053328" y="2215698"/>
            <a:ext cx="1463040" cy="3692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1" i="0" dirty="0">
                <a:solidFill>
                  <a:srgbClr val="E85D0C"/>
                </a:solidFill>
                <a:latin typeface="Arial"/>
              </a:rPr>
              <a:t>7.4 M 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1878361"/>
            <a:ext cx="2285999" cy="1043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 dirty="0">
                <a:solidFill>
                  <a:srgbClr val="111111"/>
                </a:solidFill>
                <a:latin typeface="Arial"/>
              </a:rPr>
              <a:t>of India floods in an average year, under monsoon cloud that blinds optical satellites.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8120" y="2999232"/>
            <a:ext cx="0" cy="182879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33872" y="3200400"/>
            <a:ext cx="3995927" cy="1143000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5967412" y="3249963"/>
            <a:ext cx="3950652" cy="1069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Radar flood mode sees through cloud.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Overlap with expert flood maps on Indian test scenes: 0.57, against 0.27 for a naive threshold.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59" y="1828800"/>
            <a:ext cx="3749039" cy="1143000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10076687" y="2016252"/>
            <a:ext cx="1463040" cy="7680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1" i="0" dirty="0">
                <a:solidFill>
                  <a:srgbClr val="E85D0C"/>
                </a:solidFill>
                <a:latin typeface="Arial"/>
              </a:rPr>
              <a:t>86.9 per km²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67159" y="1874519"/>
            <a:ext cx="201167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false alarms from a naive comparison of farmland where nothing was built.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841480" y="2999232"/>
            <a:ext cx="0" cy="182879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966959" y="3200400"/>
            <a:ext cx="3858767" cy="1143000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10131551" y="3237138"/>
            <a:ext cx="3419856" cy="1069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The false-alarm filter cuts that to 0.62 per km².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3,083 raw detections reduced to 22 on the same scene.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90319" y="1828800"/>
            <a:ext cx="3749039" cy="1143000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14100047" y="2215697"/>
            <a:ext cx="1463040" cy="3692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1" i="0" dirty="0">
                <a:solidFill>
                  <a:srgbClr val="E85D0C"/>
                </a:solidFill>
                <a:latin typeface="Arial"/>
              </a:rPr>
              <a:t>951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90519" y="1874519"/>
            <a:ext cx="201167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people in India’s cities by 2050. Construction spreads faster than it can be checked.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864839" y="2999232"/>
            <a:ext cx="0" cy="182879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990319" y="3200400"/>
            <a:ext cx="4012871" cy="1143000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14063472" y="3237138"/>
            <a:ext cx="3939718" cy="1069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The optical engine flags new construction.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Navi Mumbai airport site: 2,185 raw detections reduced to 265 ranked changes.</a:t>
            </a:r>
          </a:p>
        </p:txBody>
      </p:sp>
      <p:sp>
        <p:nvSpPr>
          <p:cNvPr id="44" name="Oval 43"/>
          <p:cNvSpPr/>
          <p:nvPr/>
        </p:nvSpPr>
        <p:spPr>
          <a:xfrm>
            <a:off x="548640" y="4544568"/>
            <a:ext cx="384048" cy="384048"/>
          </a:xfrm>
          <a:prstGeom prst="ellipse">
            <a:avLst/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548640" y="4613513"/>
            <a:ext cx="384048" cy="2461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4582736"/>
            <a:ext cx="16687800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PROPOSED SOLUTION FRAMEWORK: FROM TWO IMAGES TO A DECISION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074920"/>
            <a:ext cx="3145536" cy="53035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8" name="TextBox 47"/>
          <p:cNvSpPr txBox="1"/>
          <p:nvPr/>
        </p:nvSpPr>
        <p:spPr>
          <a:xfrm>
            <a:off x="676656" y="5201595"/>
            <a:ext cx="28895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1 · INGEST AND ALIGN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739896" y="5340096"/>
            <a:ext cx="274320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48640" y="5696712"/>
            <a:ext cx="3145536" cy="2670048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3" name="TextBox 52"/>
          <p:cNvSpPr txBox="1"/>
          <p:nvPr/>
        </p:nvSpPr>
        <p:spPr>
          <a:xfrm>
            <a:off x="713232" y="5751576"/>
            <a:ext cx="2816352" cy="20724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A demo scene, a GeoTIFF pair, or any box in India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Fetches the two clearest Sentinel-2 images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Checks CRS, grid and resolution with Rasterio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Masks cloud and shadow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59935" y="5074920"/>
            <a:ext cx="3145536" cy="53035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5" name="TextBox 54"/>
          <p:cNvSpPr txBox="1"/>
          <p:nvPr/>
        </p:nvSpPr>
        <p:spPr>
          <a:xfrm>
            <a:off x="4187951" y="5201595"/>
            <a:ext cx="28895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2 · DETECT CHANGE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251191" y="5340096"/>
            <a:ext cx="274320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059935" y="5696712"/>
            <a:ext cx="3145536" cy="2670048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0" name="TextBox 59"/>
          <p:cNvSpPr txBox="1"/>
          <p:nvPr/>
        </p:nvSpPr>
        <p:spPr>
          <a:xfrm>
            <a:off x="4224527" y="5751576"/>
            <a:ext cx="2816352" cy="2604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Spectral engine for Sentinel-2 (default)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Radar flood mode for Sentinel-1, single-date or before/after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Siamese U-Net trained on OSCD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BIT transformer for sharp imagery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71231" y="5074920"/>
            <a:ext cx="3145536" cy="530352"/>
          </a:xfrm>
          <a:prstGeom prst="roundRect">
            <a:avLst>
              <a:gd name="adj" fmla="val 6000"/>
            </a:avLst>
          </a:prstGeom>
          <a:solidFill>
            <a:srgbClr val="E8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2" name="TextBox 61"/>
          <p:cNvSpPr txBox="1"/>
          <p:nvPr/>
        </p:nvSpPr>
        <p:spPr>
          <a:xfrm>
            <a:off x="7699248" y="5052003"/>
            <a:ext cx="2889504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3 · FILTER FALSE ALARMS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762488" y="5340096"/>
            <a:ext cx="274319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571231" y="5696712"/>
            <a:ext cx="3145536" cy="2670048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7" name="TextBox 66"/>
          <p:cNvSpPr txBox="1"/>
          <p:nvPr/>
        </p:nvSpPr>
        <p:spPr>
          <a:xfrm>
            <a:off x="7735823" y="5751576"/>
            <a:ext cx="2816352" cy="2338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Change-type rules and a speckle filter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Cloud, shadow and permanent water masked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Raw-to-filtered toggle with counts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Live sensitivity slider in the browser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082528" y="5074920"/>
            <a:ext cx="3145536" cy="53035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9" name="TextBox 68"/>
          <p:cNvSpPr txBox="1"/>
          <p:nvPr/>
        </p:nvSpPr>
        <p:spPr>
          <a:xfrm>
            <a:off x="11210544" y="5052003"/>
            <a:ext cx="2889504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4 · VECTORISE AND RANK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4273784" y="5340096"/>
            <a:ext cx="274319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11082528" y="5696712"/>
            <a:ext cx="3145536" cy="2670048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4" name="TextBox 73"/>
          <p:cNvSpPr txBox="1"/>
          <p:nvPr/>
        </p:nvSpPr>
        <p:spPr>
          <a:xfrm>
            <a:off x="11247119" y="5751576"/>
            <a:ext cx="2816352" cy="172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Polygons with area, magnitude and centroid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Severity tier, from low to critical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A reason and a confidence on every polygon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4593824" y="5074920"/>
            <a:ext cx="3145536" cy="53035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6" name="TextBox 75"/>
          <p:cNvSpPr txBox="1"/>
          <p:nvPr/>
        </p:nvSpPr>
        <p:spPr>
          <a:xfrm>
            <a:off x="14721839" y="5201595"/>
            <a:ext cx="28895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5 · IMPACT AND EXPORT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4593824" y="5696712"/>
            <a:ext cx="3145536" cy="2670048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0" name="TextBox 79"/>
          <p:cNvSpPr txBox="1"/>
          <p:nvPr/>
        </p:nvSpPr>
        <p:spPr>
          <a:xfrm>
            <a:off x="14758416" y="5751576"/>
            <a:ext cx="2816352" cy="2338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Hectares changed; cropland and built-up land affected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Confirm or dismiss each change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GeoPackage, GeoJSON, PDF, CSV, KML</a:t>
            </a:r>
          </a:p>
          <a:p>
            <a:pPr marL="193357" indent="-193357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Arial"/>
              </a:rPr>
              <a:t>Permalink and QR code; works offline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8503920"/>
            <a:ext cx="2514600" cy="932688"/>
          </a:xfrm>
          <a:prstGeom prst="roundRect">
            <a:avLst>
              <a:gd name="adj" fmla="val 8000"/>
            </a:avLst>
          </a:prstGeom>
          <a:solidFill>
            <a:srgbClr val="E85D0C"/>
          </a:solidFill>
          <a:ln w="28575">
            <a:solidFill>
              <a:srgbClr val="0D0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2" name="TextBox 81"/>
          <p:cNvSpPr txBox="1"/>
          <p:nvPr/>
        </p:nvSpPr>
        <p:spPr>
          <a:xfrm>
            <a:off x="548640" y="8450121"/>
            <a:ext cx="2514600" cy="1040285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4 · INNOVATION AND UNIQUENESS</a:t>
            </a:r>
          </a:p>
          <a:p>
            <a:pPr algn="ctr"/>
            <a:r>
              <a:rPr sz="1600" b="0" dirty="0">
                <a:solidFill>
                  <a:srgbClr val="FFFFFF"/>
                </a:solidFill>
                <a:latin typeface="Arial"/>
              </a:rPr>
              <a:t>Beyond the expected solution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172968" y="8503920"/>
            <a:ext cx="3653028" cy="932688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28575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4" name="TextBox 83"/>
          <p:cNvSpPr txBox="1"/>
          <p:nvPr/>
        </p:nvSpPr>
        <p:spPr>
          <a:xfrm>
            <a:off x="3172968" y="8573232"/>
            <a:ext cx="3579748" cy="794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 dirty="0">
                <a:solidFill>
                  <a:srgbClr val="B84A0A"/>
                </a:solidFill>
                <a:latin typeface="Arial"/>
              </a:rPr>
              <a:t>Sees through monsoon cloud</a:t>
            </a:r>
          </a:p>
          <a:p>
            <a:pPr algn="l"/>
            <a:r>
              <a:rPr sz="1600" b="0" dirty="0">
                <a:solidFill>
                  <a:srgbClr val="111111"/>
                </a:solidFill>
                <a:latin typeface="Arial"/>
              </a:rPr>
              <a:t>Sentinel-1 radar flood mode, beyond the optical input expected.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40879" y="8503920"/>
            <a:ext cx="3387851" cy="932688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28575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6" name="TextBox 85"/>
          <p:cNvSpPr txBox="1"/>
          <p:nvPr/>
        </p:nvSpPr>
        <p:spPr>
          <a:xfrm>
            <a:off x="7092569" y="8573231"/>
            <a:ext cx="3336161" cy="794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 dirty="0">
                <a:solidFill>
                  <a:srgbClr val="B84A0A"/>
                </a:solidFill>
                <a:latin typeface="Arial"/>
              </a:rPr>
              <a:t>Any area, no upload needed</a:t>
            </a:r>
          </a:p>
          <a:p>
            <a:pPr algn="l"/>
            <a:r>
              <a:rPr sz="1600" b="0" dirty="0">
                <a:solidFill>
                  <a:srgbClr val="111111"/>
                </a:solidFill>
                <a:latin typeface="Arial"/>
              </a:rPr>
              <a:t>Draw a box; NETRA fetches the clearest Sentinel-2 pair itself.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445556" y="8491782"/>
            <a:ext cx="3498369" cy="932688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28575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0" name="TextBox 89"/>
          <p:cNvSpPr txBox="1"/>
          <p:nvPr/>
        </p:nvSpPr>
        <p:spPr>
          <a:xfrm>
            <a:off x="10597493" y="8595360"/>
            <a:ext cx="3610819" cy="794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 dirty="0">
                <a:solidFill>
                  <a:srgbClr val="B84A0A"/>
                </a:solidFill>
                <a:latin typeface="Arial"/>
              </a:rPr>
              <a:t>Impact, not just polygons</a:t>
            </a:r>
          </a:p>
          <a:p>
            <a:pPr algn="l"/>
            <a:r>
              <a:rPr sz="1600" b="0" dirty="0">
                <a:solidFill>
                  <a:srgbClr val="111111"/>
                </a:solidFill>
                <a:latin typeface="Arial"/>
              </a:rPr>
              <a:t>Cropland and built-up land affected, from ESA </a:t>
            </a:r>
            <a:r>
              <a:rPr sz="1600" b="0" dirty="0" err="1">
                <a:solidFill>
                  <a:srgbClr val="111111"/>
                </a:solidFill>
                <a:latin typeface="Arial"/>
              </a:rPr>
              <a:t>WorldCover</a:t>
            </a:r>
            <a:r>
              <a:rPr sz="1600" b="0" dirty="0">
                <a:solidFill>
                  <a:srgbClr val="111111"/>
                </a:solidFill>
                <a:latin typeface="Arial"/>
              </a:rPr>
              <a:t> and OSM.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3943926" y="8490623"/>
            <a:ext cx="4105656" cy="932688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28575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92" name="TextBox 91"/>
          <p:cNvSpPr txBox="1"/>
          <p:nvPr/>
        </p:nvSpPr>
        <p:spPr>
          <a:xfrm>
            <a:off x="14135033" y="8495522"/>
            <a:ext cx="3873929" cy="794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 dirty="0">
                <a:solidFill>
                  <a:srgbClr val="B84A0A"/>
                </a:solidFill>
                <a:latin typeface="Arial"/>
              </a:rPr>
              <a:t>Works offline, tunes live</a:t>
            </a:r>
          </a:p>
          <a:p>
            <a:pPr algn="l"/>
            <a:r>
              <a:rPr sz="1600" b="0" dirty="0">
                <a:solidFill>
                  <a:srgbClr val="111111"/>
                </a:solidFill>
                <a:latin typeface="Arial"/>
              </a:rPr>
              <a:t>Offline PWA; a sensitivity slider recomputes results in the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124200" y="214312"/>
            <a:ext cx="1115568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72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TECHNICAL APPROACH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448558" y="9639300"/>
            <a:ext cx="19185107" cy="658006"/>
            <a:chOff x="0" y="0"/>
            <a:chExt cx="25580142" cy="877341"/>
          </a:xfrm>
        </p:grpSpPr>
        <p:sp>
          <p:nvSpPr>
            <p:cNvPr id="5" name="AutoShape 5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w="863600" cap="rnd">
              <a:solidFill>
                <a:srgbClr val="379B9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9543" cy="789686"/>
              </a:xfrm>
              <a:custGeom>
                <a:avLst/>
                <a:gdLst/>
                <a:ahLst/>
                <a:cxnLst/>
                <a:rect l="l" t="t" r="r" b="b"/>
                <a:pathLst>
                  <a:path w="2439543" h="789686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248" b="-4"/>
                </a:stretch>
              </a:blipFill>
            </p:spPr>
          </p:sp>
        </p:grpSp>
      </p:grpSp>
      <p:grpSp>
        <p:nvGrpSpPr>
          <p:cNvPr id="8" name="Group 8"/>
          <p:cNvGrpSpPr/>
          <p:nvPr/>
        </p:nvGrpSpPr>
        <p:grpSpPr>
          <a:xfrm>
            <a:off x="15511797" y="109032"/>
            <a:ext cx="2651295" cy="919668"/>
            <a:chOff x="0" y="0"/>
            <a:chExt cx="3535060" cy="12262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35060" cy="1226224"/>
            </a:xfrm>
            <a:custGeom>
              <a:avLst/>
              <a:gdLst/>
              <a:ahLst/>
              <a:cxnLst/>
              <a:rect l="l" t="t" r="r" b="b"/>
              <a:pathLst>
                <a:path w="3535060" h="1226224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2608279" y="860043"/>
              <a:ext cx="713581" cy="366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9320" y="-43824"/>
            <a:ext cx="3511729" cy="1130129"/>
            <a:chOff x="0" y="0"/>
            <a:chExt cx="4682305" cy="1506839"/>
          </a:xfrm>
        </p:grpSpPr>
        <p:grpSp>
          <p:nvGrpSpPr>
            <p:cNvPr id="12" name="Group 12"/>
            <p:cNvGrpSpPr/>
            <p:nvPr/>
          </p:nvGrpSpPr>
          <p:grpSpPr>
            <a:xfrm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id="13" name="Freeform 13">
                <a:hlinkClick r:id="rId5" tooltip="https://canva.link/zc2tuqkq342gdsm"/>
              </p:cNvPr>
              <p:cNvSpPr/>
              <p:nvPr/>
            </p:nvSpPr>
            <p:spPr>
              <a:xfrm>
                <a:off x="0" y="0"/>
                <a:ext cx="780542" cy="702437"/>
              </a:xfrm>
              <a:custGeom>
                <a:avLst/>
                <a:gdLst/>
                <a:ahLst/>
                <a:cxnLst/>
                <a:rect l="l" t="t" r="r" b="b"/>
                <a:pathLst>
                  <a:path w="780542" h="702437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3" b="-3"/>
                </a:stretch>
              </a:blip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062226" cy="577088"/>
              </a:xfrm>
              <a:custGeom>
                <a:avLst/>
                <a:gdLst/>
                <a:ahLst/>
                <a:cxnLst/>
                <a:rect l="l" t="t" r="r" b="b"/>
                <a:pathLst>
                  <a:path w="2062226" h="577088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25" r="-3" b="-121"/>
                </a:stretch>
              </a:blip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994535" cy="1591183"/>
              </a:xfrm>
              <a:custGeom>
                <a:avLst/>
                <a:gdLst/>
                <a:ahLst/>
                <a:cxnLst/>
                <a:rect l="l" t="t" r="r" b="b"/>
                <a:pathLst>
                  <a:path w="1994535" h="1591183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2672" r="1" b="-12674"/>
                </a:stretch>
              </a:blipFill>
            </p:spPr>
          </p:sp>
        </p:grpSp>
      </p:grpSp>
      <p:sp>
        <p:nvSpPr>
          <p:cNvPr id="18" name="Rounded Rectangle 17"/>
          <p:cNvSpPr/>
          <p:nvPr/>
        </p:nvSpPr>
        <p:spPr>
          <a:xfrm>
            <a:off x="384048" y="1408176"/>
            <a:ext cx="6748272" cy="795527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D0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37360" y="1481328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E8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65376" y="1601792"/>
            <a:ext cx="3858768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194560"/>
            <a:ext cx="1188720" cy="1005840"/>
          </a:xfrm>
          <a:prstGeom prst="roundRect">
            <a:avLst>
              <a:gd name="adj" fmla="val 12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3" y="2409388"/>
            <a:ext cx="107899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 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10512" y="2194560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 descr="rea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0" y="233172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304288" y="2348669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19</a:t>
            </a:r>
          </a:p>
        </p:txBody>
      </p:sp>
      <p:pic>
        <p:nvPicPr>
          <p:cNvPr id="26" name="Picture 25" descr="v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2331720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041648" y="2348669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</a:t>
            </a:r>
          </a:p>
        </p:txBody>
      </p:sp>
      <p:pic>
        <p:nvPicPr>
          <p:cNvPr id="28" name="Picture 27" descr="typescrip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0" y="2331720"/>
            <a:ext cx="310896" cy="3108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79008" y="2348669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</a:p>
        </p:txBody>
      </p:sp>
      <p:pic>
        <p:nvPicPr>
          <p:cNvPr id="30" name="Picture 29" descr="tailwin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20240" y="2743200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04288" y="2610557"/>
            <a:ext cx="135331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Tailwind CSS</a:t>
            </a:r>
          </a:p>
        </p:txBody>
      </p:sp>
      <p:pic>
        <p:nvPicPr>
          <p:cNvPr id="32" name="Picture 31" descr="maplib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2743200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041648" y="2610557"/>
            <a:ext cx="135331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MapLibre GL</a:t>
            </a:r>
          </a:p>
        </p:txBody>
      </p:sp>
      <p:pic>
        <p:nvPicPr>
          <p:cNvPr id="34" name="Picture 33" descr="zustan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4960" y="2743200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79008" y="2760149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Zustand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310128"/>
            <a:ext cx="1188720" cy="1005840"/>
          </a:xfrm>
          <a:prstGeom prst="roundRect">
            <a:avLst>
              <a:gd name="adj" fmla="val 12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3503" y="3674549"/>
            <a:ext cx="107899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 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10512" y="3310128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 descr="pyth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20240" y="3447288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304288" y="346423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3.11</a:t>
            </a:r>
          </a:p>
        </p:txBody>
      </p:sp>
      <p:pic>
        <p:nvPicPr>
          <p:cNvPr id="41" name="Picture 40" descr="fastapi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0" y="3447288"/>
            <a:ext cx="310896" cy="3108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041648" y="346423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</a:p>
        </p:txBody>
      </p:sp>
      <p:pic>
        <p:nvPicPr>
          <p:cNvPr id="43" name="Picture 42" descr="rasterio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94960" y="3447288"/>
            <a:ext cx="310896" cy="3108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79008" y="346423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Rasterio</a:t>
            </a:r>
          </a:p>
        </p:txBody>
      </p:sp>
      <p:pic>
        <p:nvPicPr>
          <p:cNvPr id="45" name="Picture 44" descr="geopanda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0240" y="3858768"/>
            <a:ext cx="310896" cy="3108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304288" y="387571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GeoPandas</a:t>
            </a:r>
          </a:p>
        </p:txBody>
      </p:sp>
      <p:pic>
        <p:nvPicPr>
          <p:cNvPr id="47" name="Picture 46" descr="nump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0" y="3858768"/>
            <a:ext cx="310896" cy="31089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041648" y="387571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</a:p>
        </p:txBody>
      </p:sp>
      <p:pic>
        <p:nvPicPr>
          <p:cNvPr id="49" name="Picture 48" descr="sk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4960" y="3858768"/>
            <a:ext cx="310896" cy="31089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779008" y="387571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scikit-image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425696"/>
            <a:ext cx="1188720" cy="1005840"/>
          </a:xfrm>
          <a:prstGeom prst="roundRect">
            <a:avLst>
              <a:gd name="adj" fmla="val 12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3503" y="4790117"/>
            <a:ext cx="107899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&amp; ML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10512" y="4425696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4" name="Picture 53" descr="pytorch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20240" y="4562856"/>
            <a:ext cx="310896" cy="31089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304288" y="4579805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</a:p>
        </p:txBody>
      </p:sp>
      <p:pic>
        <p:nvPicPr>
          <p:cNvPr id="56" name="Picture 55" descr="onnx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57600" y="4562856"/>
            <a:ext cx="310896" cy="3108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041648" y="4579805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ONNX</a:t>
            </a:r>
          </a:p>
        </p:txBody>
      </p:sp>
      <p:pic>
        <p:nvPicPr>
          <p:cNvPr id="58" name="Picture 57" descr="sklear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94960" y="4562856"/>
            <a:ext cx="310896" cy="31089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779008" y="4579805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</a:p>
        </p:txBody>
      </p:sp>
      <p:pic>
        <p:nvPicPr>
          <p:cNvPr id="60" name="Picture 59" descr="unet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20240" y="4974336"/>
            <a:ext cx="310896" cy="31089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304288" y="4841693"/>
            <a:ext cx="135331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Siamese U-Net</a:t>
            </a:r>
          </a:p>
        </p:txBody>
      </p:sp>
      <p:pic>
        <p:nvPicPr>
          <p:cNvPr id="62" name="Picture 61" descr="bi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57600" y="4974336"/>
            <a:ext cx="310896" cy="31089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41648" y="4991285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model</a:t>
            </a:r>
          </a:p>
        </p:txBody>
      </p:sp>
      <p:pic>
        <p:nvPicPr>
          <p:cNvPr id="64" name="Picture 63" descr="spectral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30368" y="4974336"/>
            <a:ext cx="310896" cy="3108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632894" y="4841693"/>
            <a:ext cx="135331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Spectral rules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541264"/>
            <a:ext cx="1188720" cy="1005840"/>
          </a:xfrm>
          <a:prstGeom prst="roundRect">
            <a:avLst>
              <a:gd name="adj" fmla="val 12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03503" y="5905685"/>
            <a:ext cx="107899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10512" y="5541264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" name="Picture 68" descr="s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20240" y="5678424"/>
            <a:ext cx="310896" cy="31089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2304288" y="5695373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Sentinel-2</a:t>
            </a:r>
          </a:p>
        </p:txBody>
      </p:sp>
      <p:pic>
        <p:nvPicPr>
          <p:cNvPr id="71" name="Picture 70" descr="s1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0" y="5678424"/>
            <a:ext cx="310896" cy="31089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041648" y="5695373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Sentinel-1</a:t>
            </a:r>
          </a:p>
        </p:txBody>
      </p:sp>
      <p:pic>
        <p:nvPicPr>
          <p:cNvPr id="73" name="Picture 72" descr="osc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94960" y="5678424"/>
            <a:ext cx="310896" cy="31089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779008" y="5695373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OSCD</a:t>
            </a:r>
          </a:p>
        </p:txBody>
      </p:sp>
      <p:pic>
        <p:nvPicPr>
          <p:cNvPr id="75" name="Picture 74" descr="levi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20240" y="6089904"/>
            <a:ext cx="310896" cy="31089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304288" y="6106853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LEVIR-CD</a:t>
            </a:r>
          </a:p>
        </p:txBody>
      </p:sp>
      <p:pic>
        <p:nvPicPr>
          <p:cNvPr id="77" name="Picture 76" descr="floods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57600" y="6089904"/>
            <a:ext cx="310896" cy="31089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041648" y="5957261"/>
            <a:ext cx="135331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Sen1Floods11</a:t>
            </a:r>
          </a:p>
        </p:txBody>
      </p:sp>
      <p:pic>
        <p:nvPicPr>
          <p:cNvPr id="79" name="Picture 78" descr="worldcover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94960" y="6089904"/>
            <a:ext cx="310896" cy="310896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779008" y="6106853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WorldCover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6656832"/>
            <a:ext cx="1188720" cy="1005840"/>
          </a:xfrm>
          <a:prstGeom prst="roundRect">
            <a:avLst>
              <a:gd name="adj" fmla="val 12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03503" y="6871660"/>
            <a:ext cx="107899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&amp; Deploy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810512" y="6656832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Picture 83" descr="vercel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920240" y="6793992"/>
            <a:ext cx="310896" cy="310896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304288" y="6810941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</a:t>
            </a:r>
          </a:p>
        </p:txBody>
      </p:sp>
      <p:pic>
        <p:nvPicPr>
          <p:cNvPr id="86" name="Picture 85" descr="docker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657600" y="6793992"/>
            <a:ext cx="310896" cy="310896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041648" y="6810941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</a:p>
        </p:txBody>
      </p:sp>
      <p:pic>
        <p:nvPicPr>
          <p:cNvPr id="88" name="Picture 87" descr="gha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94960" y="6793992"/>
            <a:ext cx="310896" cy="3108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779008" y="6810941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CI</a:t>
            </a:r>
          </a:p>
        </p:txBody>
      </p:sp>
      <p:pic>
        <p:nvPicPr>
          <p:cNvPr id="90" name="Picture 89" descr="pytest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920240" y="7205472"/>
            <a:ext cx="310896" cy="310896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304288" y="7222421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</a:p>
        </p:txBody>
      </p:sp>
      <p:pic>
        <p:nvPicPr>
          <p:cNvPr id="92" name="Picture 91" descr="vitest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657600" y="7205472"/>
            <a:ext cx="310896" cy="310896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4041648" y="7222421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</a:p>
        </p:txBody>
      </p:sp>
      <p:pic>
        <p:nvPicPr>
          <p:cNvPr id="94" name="Picture 93" descr="playwright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94960" y="7205472"/>
            <a:ext cx="310896" cy="31089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5779008" y="7222421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Playwright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48640" y="7772400"/>
            <a:ext cx="1188720" cy="1417320"/>
          </a:xfrm>
          <a:prstGeom prst="roundRect">
            <a:avLst>
              <a:gd name="adj" fmla="val 12000"/>
            </a:avLst>
          </a:prstGeom>
          <a:solidFill>
            <a:srgbClr val="E8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03503" y="8192968"/>
            <a:ext cx="1078992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SDKs and API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810512" y="777240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993392" y="8004904"/>
            <a:ext cx="4892040" cy="952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 search (Element84 Earth Search)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OpenFreeMap base maps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fpdf2 and qrcode for PDF reports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53591021-962C-3052-2D3D-6430CF4AF22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472" y="1350941"/>
            <a:ext cx="11155680" cy="81611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566160" y="320040"/>
            <a:ext cx="1115568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372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AND VIABILITY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448558" y="9639300"/>
            <a:ext cx="19185107" cy="658006"/>
            <a:chOff x="0" y="0"/>
            <a:chExt cx="25580142" cy="877341"/>
          </a:xfrm>
        </p:grpSpPr>
        <p:sp>
          <p:nvSpPr>
            <p:cNvPr id="6" name="AutoShape 6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w="863600" cap="rnd">
              <a:solidFill>
                <a:srgbClr val="379B9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9543" cy="789686"/>
              </a:xfrm>
              <a:custGeom>
                <a:avLst/>
                <a:gdLst/>
                <a:ahLst/>
                <a:cxnLst/>
                <a:rect l="l" t="t" r="r" b="b"/>
                <a:pathLst>
                  <a:path w="2439543" h="789686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248" b="-4"/>
                </a:stretch>
              </a:blipFill>
            </p:spPr>
          </p:sp>
        </p:grpSp>
      </p:grpSp>
      <p:grpSp>
        <p:nvGrpSpPr>
          <p:cNvPr id="9" name="Group 9"/>
          <p:cNvGrpSpPr/>
          <p:nvPr/>
        </p:nvGrpSpPr>
        <p:grpSpPr>
          <a:xfrm>
            <a:off x="15511797" y="109032"/>
            <a:ext cx="2651295" cy="919668"/>
            <a:chOff x="0" y="0"/>
            <a:chExt cx="3535060" cy="1226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35060" cy="1226224"/>
            </a:xfrm>
            <a:custGeom>
              <a:avLst/>
              <a:gdLst/>
              <a:ahLst/>
              <a:cxnLst/>
              <a:rect l="l" t="t" r="r" b="b"/>
              <a:pathLst>
                <a:path w="3535060" h="1226224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2608279" y="860043"/>
              <a:ext cx="713581" cy="366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99320" y="3801"/>
            <a:ext cx="3511729" cy="1130129"/>
            <a:chOff x="0" y="0"/>
            <a:chExt cx="4682305" cy="1506839"/>
          </a:xfrm>
        </p:grpSpPr>
        <p:grpSp>
          <p:nvGrpSpPr>
            <p:cNvPr id="13" name="Group 13"/>
            <p:cNvGrpSpPr/>
            <p:nvPr/>
          </p:nvGrpSpPr>
          <p:grpSpPr>
            <a:xfrm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id="14" name="Freeform 14">
                <a:hlinkClick r:id="rId5" tooltip="https://canva.link/zc2tuqkq342gdsm"/>
              </p:cNvPr>
              <p:cNvSpPr/>
              <p:nvPr/>
            </p:nvSpPr>
            <p:spPr>
              <a:xfrm>
                <a:off x="0" y="0"/>
                <a:ext cx="780542" cy="702437"/>
              </a:xfrm>
              <a:custGeom>
                <a:avLst/>
                <a:gdLst/>
                <a:ahLst/>
                <a:cxnLst/>
                <a:rect l="l" t="t" r="r" b="b"/>
                <a:pathLst>
                  <a:path w="780542" h="702437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3" b="-3"/>
                </a:stretch>
              </a:blip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062226" cy="577088"/>
              </a:xfrm>
              <a:custGeom>
                <a:avLst/>
                <a:gdLst/>
                <a:ahLst/>
                <a:cxnLst/>
                <a:rect l="l" t="t" r="r" b="b"/>
                <a:pathLst>
                  <a:path w="2062226" h="577088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25" r="-3" b="-121"/>
                </a:stretch>
              </a:blip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94535" cy="1591183"/>
              </a:xfrm>
              <a:custGeom>
                <a:avLst/>
                <a:gdLst/>
                <a:ahLst/>
                <a:cxnLst/>
                <a:rect l="l" t="t" r="r" b="b"/>
                <a:pathLst>
                  <a:path w="1994535" h="1591183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2672" r="1" b="-12674"/>
                </a:stretch>
              </a:blipFill>
            </p:spPr>
          </p:sp>
        </p:grpSp>
      </p:grpSp>
      <p:sp>
        <p:nvSpPr>
          <p:cNvPr id="19" name="Rounded Rectangle 18"/>
          <p:cNvSpPr/>
          <p:nvPr/>
        </p:nvSpPr>
        <p:spPr>
          <a:xfrm>
            <a:off x="384048" y="1261872"/>
            <a:ext cx="17519904" cy="42611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0D0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325880"/>
            <a:ext cx="17190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50" b="1" i="0">
                <a:solidFill>
                  <a:srgbClr val="111111"/>
                </a:solidFill>
                <a:latin typeface="Arial"/>
              </a:rPr>
              <a:t>FIVE PROBLEMS, AND HOW NETRA USES BEFORE-AND-AFTER SATELLITE IMAGES FOR 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783080"/>
            <a:ext cx="3291840" cy="1170432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905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18288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FLOOD EXTENT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057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100" b="1" i="0">
                <a:solidFill>
                  <a:srgbClr val="B84A0A"/>
                </a:solidFill>
                <a:latin typeface="Arial"/>
              </a:rPr>
              <a:t>7.4 M 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432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of India flooded in an average year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971800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3099815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905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3145535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BEFORE vs AFTER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Arial"/>
              </a:rPr>
              <a:t>Radar image before the flood vs during it. Land that turned to open water is new flood.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94560" y="4489704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4617720"/>
            <a:ext cx="3291840" cy="80467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4663440"/>
            <a:ext cx="30540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NETRA RETURNS: Flood polygons with hectares and severity, even under cloud.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1783080"/>
            <a:ext cx="3291840" cy="1170432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905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0" y="18288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FLOOD DAMAGE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057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100" b="1" i="0">
                <a:solidFill>
                  <a:srgbClr val="B84A0A"/>
                </a:solidFill>
                <a:latin typeface="Arial"/>
              </a:rPr>
              <a:t>₹4.86 lakh crore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2432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flood damage, 1953 to 2021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0" y="2971800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023360" y="3099815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905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42232" y="3145535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BEFORE vs AFTER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Arial"/>
              </a:rPr>
              <a:t>The newly flooded area is laid over cropland and built-up maps of the same place.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0" y="4489704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023360" y="4617720"/>
            <a:ext cx="3291840" cy="80467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42232" y="4663440"/>
            <a:ext cx="30540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NETRA RETURNS: Hectares of cropland and built-up land affected.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1783080"/>
            <a:ext cx="3291840" cy="1170432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905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18288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URBAN GROWTH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2057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100" b="1" i="0">
                <a:solidFill>
                  <a:srgbClr val="B84A0A"/>
                </a:solidFill>
                <a:latin typeface="Arial"/>
              </a:rPr>
              <a:t>951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2432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people in India’s cities by 2050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44000" y="2971800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498080" y="3099815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905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16952" y="3145535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BEFORE vs AFTER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Arial"/>
              </a:rPr>
              <a:t>An earlier image vs the latest. Built-up surfaces seen only in the later one are new construction.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0" y="4489704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498080" y="4617720"/>
            <a:ext cx="3291840" cy="80467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16952" y="4663440"/>
            <a:ext cx="30540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NETRA RETURNS: New-construction polygons, ranked by area, with a reason.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0" y="1783080"/>
            <a:ext cx="3291840" cy="1170432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905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064240" y="18288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WETLAND LOSS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2057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100" b="1" i="0">
                <a:solidFill>
                  <a:srgbClr val="B84A0A"/>
                </a:solidFill>
                <a:latin typeface="Arial"/>
              </a:rPr>
              <a:t>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2432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of Chennai’s wetlands lost, 1988 to 2019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2618720" y="2971800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0972800" y="3099815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905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091672" y="3145535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BEFORE vs AFTER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Arial"/>
              </a:rPr>
              <a:t>Water and green cover earlier vs later. A lake bed turned to bare ground or buildings is flagged.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2618720" y="4489704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0972800" y="4617720"/>
            <a:ext cx="3291840" cy="80467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091672" y="4663440"/>
            <a:ext cx="30540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NETRA RETURNS: Encroachment polygons on lakes and drains, while still small.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447520" y="1783080"/>
            <a:ext cx="3291840" cy="1170432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905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538960" y="18288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FALSE ALARMS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538960" y="2057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100" b="1" i="0">
                <a:solidFill>
                  <a:srgbClr val="B84A0A"/>
                </a:solidFill>
                <a:latin typeface="Arial"/>
              </a:rPr>
              <a:t>Above 50%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538960" y="24323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early accuracy of an existing state alert pilot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093440" y="2971800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4447520" y="3099815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905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4566392" y="3145535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350" b="1" i="0">
                <a:solidFill>
                  <a:srgbClr val="1F6F6E"/>
                </a:solidFill>
                <a:latin typeface="Arial"/>
              </a:rPr>
              <a:t>BEFORE vs AFTER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Arial"/>
              </a:rPr>
              <a:t>Two dates also differ in season, sun angle and cloud. NETRA separates those from real change.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6093440" y="4489704"/>
            <a:ext cx="0" cy="109728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4447520" y="4617720"/>
            <a:ext cx="3291840" cy="804672"/>
          </a:xfrm>
          <a:prstGeom prst="roundRect">
            <a:avLst>
              <a:gd name="adj" fmla="val 6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4566392" y="4663440"/>
            <a:ext cx="30540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NETRA RETURNS: False alerts cut from 86.9 to 0.62 per km² on a control scene.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4048" y="5596128"/>
            <a:ext cx="8467344" cy="3730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0D0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942832" y="5596128"/>
            <a:ext cx="8961120" cy="3730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0D0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8640" y="5650992"/>
            <a:ext cx="8138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FEASIBILITY AND VIABILITY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8640" y="6016752"/>
            <a:ext cx="1874519" cy="384048"/>
          </a:xfrm>
          <a:prstGeom prst="roundRect">
            <a:avLst>
              <a:gd name="adj" fmla="val 15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76656" y="6062472"/>
            <a:ext cx="1618487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Characteristic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514600" y="6016752"/>
            <a:ext cx="3035808" cy="384048"/>
          </a:xfrm>
          <a:prstGeom prst="roundRect">
            <a:avLst>
              <a:gd name="adj" fmla="val 15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42616" y="6062472"/>
            <a:ext cx="2779776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41848" y="6016752"/>
            <a:ext cx="3044952" cy="384048"/>
          </a:xfrm>
          <a:prstGeom prst="roundRect">
            <a:avLst>
              <a:gd name="adj" fmla="val 15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769864" y="6062472"/>
            <a:ext cx="278892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Viability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8640" y="6455664"/>
            <a:ext cx="1874519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6656" y="6501384"/>
            <a:ext cx="16184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Proven Principle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14600" y="6455664"/>
            <a:ext cx="3035808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606040" y="6501384"/>
            <a:ext cx="285292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Spectral indices and radar water mapping are published methods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41848" y="6455664"/>
            <a:ext cx="3044952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33288" y="6501384"/>
            <a:ext cx="28620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Engine, API and web app already work end to end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8640" y="7178040"/>
            <a:ext cx="1874519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6656" y="7223760"/>
            <a:ext cx="16184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Data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14600" y="7178040"/>
            <a:ext cx="3035808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606040" y="7223760"/>
            <a:ext cx="285292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Free Sentinel-1 and Sentinel-2 imagery; open labelled datasets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41848" y="7178040"/>
            <a:ext cx="3044952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733288" y="7223760"/>
            <a:ext cx="28620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No imagery licence cost and no API keys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7900416"/>
            <a:ext cx="1874519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76656" y="7946136"/>
            <a:ext cx="16184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Compute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514600" y="7900416"/>
            <a:ext cx="3035808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606040" y="7946136"/>
            <a:ext cx="285292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CPU only; one Docker container runs the API and site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41848" y="7900416"/>
            <a:ext cx="3044952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733288" y="7946136"/>
            <a:ext cx="28620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No GPU server; the demo also works offline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48640" y="8622792"/>
            <a:ext cx="1874519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76656" y="8668512"/>
            <a:ext cx="16184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Test Readiness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514600" y="8622792"/>
            <a:ext cx="3035808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06040" y="8668512"/>
            <a:ext cx="285292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Held-out results on floods, cities and buildings, with 95% intervals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41848" y="8622792"/>
            <a:ext cx="3044952" cy="676656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733288" y="8668512"/>
            <a:ext cx="28620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221 Python and 137 web tests pass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07424" y="5650992"/>
            <a:ext cx="8631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STRATEGIC CHALLENGES AND SOLUTIONS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107424" y="6016752"/>
            <a:ext cx="3931920" cy="384048"/>
          </a:xfrm>
          <a:prstGeom prst="roundRect">
            <a:avLst>
              <a:gd name="adj" fmla="val 15000"/>
            </a:avLst>
          </a:prstGeom>
          <a:solidFill>
            <a:srgbClr val="E8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235440" y="6062472"/>
            <a:ext cx="3675887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Potential Challenges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039344" y="6016752"/>
            <a:ext cx="7680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VS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3807440" y="6016752"/>
            <a:ext cx="3931920" cy="384048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3935456" y="6062472"/>
            <a:ext cx="3675887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Strategies To Overcome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107424" y="6455664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235440" y="6501384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Monsoon Cloud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Optical satellites are blind in floods.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3112496" y="6793992"/>
            <a:ext cx="621792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13807440" y="6455664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E9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3935456" y="6501384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Radar sees through cloud; output is stated as open-water flood extent.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107424" y="7178040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235440" y="7223760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Learned Model Over-Flags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7.4 false polygons per km² on farmland.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3112496" y="7516368"/>
            <a:ext cx="621792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13807440" y="7178040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E9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3935456" y="7223760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The spectral engine (0.62 per km²) stays the default; learned is optional.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07424" y="7900416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235440" y="7946136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Other Regions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Thresholds were tuned on Maharashtra.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3112496" y="8238744"/>
            <a:ext cx="621792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13807440" y="7900416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E9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3935456" y="7946136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Six regions checked by eye; rivers and dry soil are known confusers.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107424" y="8622792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235440" y="8668512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B84A0A"/>
                </a:solidFill>
                <a:latin typeface="Arial"/>
              </a:rPr>
              <a:t>Change Is Not Proof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Imagery shows change, not legality.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3112496" y="8961119"/>
            <a:ext cx="621792" cy="0"/>
          </a:xfrm>
          <a:prstGeom prst="line">
            <a:avLst/>
          </a:prstGeom>
          <a:ln w="28575">
            <a:solidFill>
              <a:srgbClr val="1F6F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13807440" y="8622792"/>
            <a:ext cx="3931920" cy="676656"/>
          </a:xfrm>
          <a:prstGeom prst="roundRect">
            <a:avLst>
              <a:gd name="adj" fmla="val 6000"/>
            </a:avLst>
          </a:prstGeom>
          <a:solidFill>
            <a:srgbClr val="E9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3935456" y="8668512"/>
            <a:ext cx="367588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NETRA flags and ranks; officers verify on site and confirm or dismiss.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611879" y="47337"/>
            <a:ext cx="1115568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372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AND BENEFITS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448558" y="9639300"/>
            <a:ext cx="19185107" cy="658006"/>
            <a:chOff x="0" y="0"/>
            <a:chExt cx="25580142" cy="877341"/>
          </a:xfrm>
        </p:grpSpPr>
        <p:sp>
          <p:nvSpPr>
            <p:cNvPr id="6" name="AutoShape 6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w="863600" cap="rnd">
              <a:solidFill>
                <a:srgbClr val="379B9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9543" cy="789686"/>
              </a:xfrm>
              <a:custGeom>
                <a:avLst/>
                <a:gdLst/>
                <a:ahLst/>
                <a:cxnLst/>
                <a:rect l="l" t="t" r="r" b="b"/>
                <a:pathLst>
                  <a:path w="2439543" h="789686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248" b="-4"/>
                </a:stretch>
              </a:blipFill>
            </p:spPr>
          </p:sp>
        </p:grpSp>
      </p:grpSp>
      <p:grpSp>
        <p:nvGrpSpPr>
          <p:cNvPr id="9" name="Group 9"/>
          <p:cNvGrpSpPr/>
          <p:nvPr/>
        </p:nvGrpSpPr>
        <p:grpSpPr>
          <a:xfrm>
            <a:off x="15511797" y="109032"/>
            <a:ext cx="2651295" cy="919668"/>
            <a:chOff x="0" y="0"/>
            <a:chExt cx="3535060" cy="1226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35060" cy="1226224"/>
            </a:xfrm>
            <a:custGeom>
              <a:avLst/>
              <a:gdLst/>
              <a:ahLst/>
              <a:cxnLst/>
              <a:rect l="l" t="t" r="r" b="b"/>
              <a:pathLst>
                <a:path w="3535060" h="1226224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2608279" y="860043"/>
              <a:ext cx="713581" cy="366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99320" y="3801"/>
            <a:ext cx="3511729" cy="1130129"/>
            <a:chOff x="0" y="0"/>
            <a:chExt cx="4682305" cy="1506839"/>
          </a:xfrm>
        </p:grpSpPr>
        <p:grpSp>
          <p:nvGrpSpPr>
            <p:cNvPr id="13" name="Group 13"/>
            <p:cNvGrpSpPr/>
            <p:nvPr/>
          </p:nvGrpSpPr>
          <p:grpSpPr>
            <a:xfrm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id="14" name="Freeform 14">
                <a:hlinkClick r:id="rId5" tooltip="https://canva.link/zc2tuqkq342gdsm"/>
              </p:cNvPr>
              <p:cNvSpPr/>
              <p:nvPr/>
            </p:nvSpPr>
            <p:spPr>
              <a:xfrm>
                <a:off x="0" y="0"/>
                <a:ext cx="780542" cy="702437"/>
              </a:xfrm>
              <a:custGeom>
                <a:avLst/>
                <a:gdLst/>
                <a:ahLst/>
                <a:cxnLst/>
                <a:rect l="l" t="t" r="r" b="b"/>
                <a:pathLst>
                  <a:path w="780542" h="702437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3" b="-3"/>
                </a:stretch>
              </a:blip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062226" cy="577088"/>
              </a:xfrm>
              <a:custGeom>
                <a:avLst/>
                <a:gdLst/>
                <a:ahLst/>
                <a:cxnLst/>
                <a:rect l="l" t="t" r="r" b="b"/>
                <a:pathLst>
                  <a:path w="2062226" h="577088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25" r="-3" b="-121"/>
                </a:stretch>
              </a:blip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94535" cy="1591183"/>
              </a:xfrm>
              <a:custGeom>
                <a:avLst/>
                <a:gdLst/>
                <a:ahLst/>
                <a:cxnLst/>
                <a:rect l="l" t="t" r="r" b="b"/>
                <a:pathLst>
                  <a:path w="1994535" h="1591183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2672" r="1" b="-12674"/>
                </a:stretch>
              </a:blipFill>
            </p:spPr>
          </p:sp>
        </p:grpSp>
      </p:grpSp>
      <p:sp>
        <p:nvSpPr>
          <p:cNvPr id="19" name="Rounded Rectangle 18"/>
          <p:cNvSpPr/>
          <p:nvPr/>
        </p:nvSpPr>
        <p:spPr>
          <a:xfrm>
            <a:off x="384048" y="1280160"/>
            <a:ext cx="9015984" cy="6144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0">
            <a:solidFill>
              <a:srgbClr val="0D0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4048" y="7516368"/>
            <a:ext cx="9015984" cy="18105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0">
            <a:solidFill>
              <a:srgbClr val="0D0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1389888"/>
            <a:ext cx="8686800" cy="457200"/>
          </a:xfrm>
          <a:prstGeom prst="roundRect">
            <a:avLst>
              <a:gd name="adj" fmla="val 20000"/>
            </a:avLst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1479988"/>
            <a:ext cx="84307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KEY BENEFITS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920240"/>
            <a:ext cx="484632" cy="420624"/>
          </a:xfrm>
          <a:prstGeom prst="roundRect">
            <a:avLst>
              <a:gd name="adj" fmla="val 12000"/>
            </a:avLst>
          </a:prstGeom>
          <a:solidFill>
            <a:srgbClr val="E8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1992052"/>
            <a:ext cx="39319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1920240"/>
            <a:ext cx="2816352" cy="420624"/>
          </a:xfrm>
          <a:prstGeom prst="roundRect">
            <a:avLst>
              <a:gd name="adj" fmla="val 12000"/>
            </a:avLst>
          </a:prstGeom>
          <a:solidFill>
            <a:srgbClr val="E8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1992052"/>
            <a:ext cx="27249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BENEFIT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1920240"/>
            <a:ext cx="5257800" cy="420624"/>
          </a:xfrm>
          <a:prstGeom prst="roundRect">
            <a:avLst>
              <a:gd name="adj" fmla="val 12000"/>
            </a:avLst>
          </a:prstGeom>
          <a:solidFill>
            <a:srgbClr val="E8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59" y="1992052"/>
            <a:ext cx="51663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Arial"/>
              </a:rPr>
              <a:t>HOW NETRA DELIVERS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95728"/>
            <a:ext cx="484632" cy="786384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2650420"/>
            <a:ext cx="4297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B84A0A"/>
                </a:solidFill>
                <a:latin typeface="Arial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2395728"/>
            <a:ext cx="2816352" cy="786384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270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2500828"/>
            <a:ext cx="267004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/>
              </a:rPr>
              <a:t>Flood maps during the monsoon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2395728"/>
            <a:ext cx="5257800" cy="786384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05655" y="2500828"/>
            <a:ext cx="500176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Radar mode maps open flood water through cloud, when optical images show nothing.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236976"/>
            <a:ext cx="484632" cy="786384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" y="3491668"/>
            <a:ext cx="4297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B84A0A"/>
                </a:solidFill>
                <a:latin typeface="Arial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3236976"/>
            <a:ext cx="2816352" cy="786384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270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70432" y="3342076"/>
            <a:ext cx="267004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/>
              </a:rPr>
              <a:t>Fewer wasted field visits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77639" y="3236976"/>
            <a:ext cx="5257800" cy="786384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05655" y="3342076"/>
            <a:ext cx="500176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False alarms are filtered out before an alert reaches a guard or surveyor.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078224"/>
            <a:ext cx="484632" cy="786384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" y="4332916"/>
            <a:ext cx="4297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B84A0A"/>
                </a:solidFill>
                <a:latin typeface="Arial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4078224"/>
            <a:ext cx="2816352" cy="786384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270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0432" y="4183324"/>
            <a:ext cx="267004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/>
              </a:rPr>
              <a:t>Early action on encroachment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4078224"/>
            <a:ext cx="5257800" cy="786384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05655" y="4183324"/>
            <a:ext cx="500176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New construction on lakes, drains and public land is flagged while still small.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919472"/>
            <a:ext cx="484632" cy="786384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6072" y="5174164"/>
            <a:ext cx="4297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B84A0A"/>
                </a:solidFill>
                <a:latin typeface="Arial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4919472"/>
            <a:ext cx="2816352" cy="786384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270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70432" y="5024572"/>
            <a:ext cx="267004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/>
              </a:rPr>
              <a:t>Decisions officers can defend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77639" y="4919472"/>
            <a:ext cx="5257800" cy="786384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05655" y="5024572"/>
            <a:ext cx="500176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Every polygon carries its area, confidence, severity tier and a reason.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760720"/>
            <a:ext cx="484632" cy="786384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" y="6015412"/>
            <a:ext cx="4297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B84A0A"/>
                </a:solidFill>
                <a:latin typeface="Arial"/>
              </a:rPr>
              <a:t>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7280" y="5760720"/>
            <a:ext cx="2816352" cy="786384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270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70432" y="6015412"/>
            <a:ext cx="267004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/>
              </a:rPr>
              <a:t>Impact in plain numbers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77639" y="5760720"/>
            <a:ext cx="5257800" cy="786384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05655" y="5865820"/>
            <a:ext cx="500176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Hectares changed, cropland and built-up land affected, each with its source.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6601968"/>
            <a:ext cx="484632" cy="786384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 w="127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6072" y="6856660"/>
            <a:ext cx="42976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B84A0A"/>
                </a:solidFill>
                <a:latin typeface="Arial"/>
              </a:rPr>
              <a:t>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97280" y="6601968"/>
            <a:ext cx="2816352" cy="786384"/>
          </a:xfrm>
          <a:prstGeom prst="roundRect">
            <a:avLst>
              <a:gd name="adj" fmla="val 6000"/>
            </a:avLst>
          </a:prstGeom>
          <a:solidFill>
            <a:srgbClr val="E3F5F6"/>
          </a:solidFill>
          <a:ln w="1270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70432" y="6856660"/>
            <a:ext cx="267004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11111"/>
                </a:solidFill>
                <a:latin typeface="Arial"/>
              </a:rPr>
              <a:t>No licence cost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977639" y="6601968"/>
            <a:ext cx="5257800" cy="786384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55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05655" y="6707068"/>
            <a:ext cx="5001768" cy="576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0" i="0" dirty="0">
                <a:solidFill>
                  <a:srgbClr val="111111"/>
                </a:solidFill>
                <a:latin typeface="Arial"/>
              </a:rPr>
              <a:t>Free Sentinel imagery, open-source models and open maps.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7607808"/>
            <a:ext cx="8686800" cy="384048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76656" y="7653528"/>
            <a:ext cx="8430768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PERFORMANCE QUALIFICATION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8127338"/>
            <a:ext cx="8412480" cy="10823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00" b="0" i="0" dirty="0">
                <a:solidFill>
                  <a:srgbClr val="111111"/>
                </a:solidFill>
                <a:latin typeface="Arial"/>
              </a:rPr>
              <a:t>1. Flood maps, Indian test scenes: overlap with expert labels </a:t>
            </a:r>
            <a:r>
              <a:rPr sz="1600" b="1" i="0" dirty="0">
                <a:solidFill>
                  <a:srgbClr val="111111"/>
                </a:solidFill>
                <a:latin typeface="Arial"/>
              </a:rPr>
              <a:t>0.57 vs 0.27</a:t>
            </a:r>
            <a:r>
              <a:rPr sz="1600" b="0" i="0" dirty="0">
                <a:solidFill>
                  <a:srgbClr val="111111"/>
                </a:solidFill>
                <a:latin typeface="Arial"/>
              </a:rPr>
              <a:t> naive.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00" b="0" i="0" dirty="0">
                <a:solidFill>
                  <a:srgbClr val="111111"/>
                </a:solidFill>
                <a:latin typeface="Arial"/>
              </a:rPr>
              <a:t>2. False alarms on a no-construction scene: </a:t>
            </a:r>
            <a:r>
              <a:rPr sz="1600" b="1" i="0" dirty="0">
                <a:solidFill>
                  <a:srgbClr val="111111"/>
                </a:solidFill>
                <a:latin typeface="Arial"/>
              </a:rPr>
              <a:t>86.9 down to 0.62 per km²</a:t>
            </a:r>
            <a:r>
              <a:rPr sz="1600" b="0" i="0" dirty="0">
                <a:solidFill>
                  <a:srgbClr val="111111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00" b="0" i="0" dirty="0">
                <a:solidFill>
                  <a:srgbClr val="111111"/>
                </a:solidFill>
                <a:latin typeface="Arial"/>
              </a:rPr>
              <a:t>3. Building change (BIT, LEVIR-CD test split): </a:t>
            </a:r>
            <a:r>
              <a:rPr sz="1600" b="1" i="0" dirty="0">
                <a:solidFill>
                  <a:srgbClr val="111111"/>
                </a:solidFill>
                <a:latin typeface="Arial"/>
              </a:rPr>
              <a:t>F1 0.90 vs 0.14</a:t>
            </a:r>
            <a:r>
              <a:rPr sz="1600" b="0" i="0" dirty="0">
                <a:solidFill>
                  <a:srgbClr val="111111"/>
                </a:solidFill>
                <a:latin typeface="Arial"/>
              </a:rPr>
              <a:t> naive.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 dirty="0">
                <a:solidFill>
                  <a:srgbClr val="111111"/>
                </a:solidFill>
                <a:latin typeface="Arial"/>
              </a:rPr>
              <a:t>4. Learned Sentinel-2 model, 10 held-out cities: </a:t>
            </a:r>
            <a:r>
              <a:rPr sz="1600" b="1" i="0" dirty="0">
                <a:solidFill>
                  <a:srgbClr val="111111"/>
                </a:solidFill>
                <a:latin typeface="Arial"/>
              </a:rPr>
              <a:t>F1 0.54 vs 0.38</a:t>
            </a:r>
            <a:r>
              <a:rPr sz="1600" b="0" i="0" dirty="0">
                <a:solidFill>
                  <a:srgbClr val="111111"/>
                </a:solidFill>
                <a:latin typeface="Arial"/>
              </a:rPr>
              <a:t> spectral.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01200" y="1280159"/>
            <a:ext cx="7178040" cy="2734053"/>
          </a:xfrm>
          <a:prstGeom prst="roundRect">
            <a:avLst>
              <a:gd name="adj" fmla="val 5000"/>
            </a:avLst>
          </a:prstGeom>
          <a:solidFill>
            <a:srgbClr val="FDEEE3"/>
          </a:solidFill>
          <a:ln w="38100">
            <a:solidFill>
              <a:srgbClr val="B84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829800" y="1348774"/>
            <a:ext cx="6720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B84A0A"/>
                </a:solidFill>
                <a:latin typeface="Arial"/>
              </a:rPr>
              <a:t>SOCIAL IMPACTS AND BENEFITS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44087" y="1667965"/>
            <a:ext cx="6720840" cy="2379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 dirty="0">
                <a:solidFill>
                  <a:srgbClr val="111111"/>
                </a:solidFill>
                <a:latin typeface="Arial"/>
              </a:rPr>
              <a:t>1. Flood extent is mapped during the monsoon, so relief reaches the worst-hit places sooner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 dirty="0">
                <a:solidFill>
                  <a:srgbClr val="111111"/>
                </a:solidFill>
                <a:latin typeface="Arial"/>
              </a:rPr>
              <a:t>2. Field staff spend their time on real changes, not false alarms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 dirty="0">
                <a:solidFill>
                  <a:srgbClr val="111111"/>
                </a:solidFill>
                <a:latin typeface="Arial"/>
              </a:rPr>
              <a:t>3. Citizens see evidence-based action on encroached lakes and commons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 dirty="0">
                <a:solidFill>
                  <a:srgbClr val="111111"/>
                </a:solidFill>
                <a:latin typeface="Arial"/>
              </a:rPr>
              <a:t>4. Works offline after one visit and opens on a phone from a QR code</a:t>
            </a:r>
          </a:p>
        </p:txBody>
      </p:sp>
      <p:sp>
        <p:nvSpPr>
          <p:cNvPr id="71" name="Oval 70"/>
          <p:cNvSpPr/>
          <p:nvPr/>
        </p:nvSpPr>
        <p:spPr>
          <a:xfrm>
            <a:off x="16980408" y="2185415"/>
            <a:ext cx="777240" cy="777240"/>
          </a:xfrm>
          <a:prstGeom prst="ellipse">
            <a:avLst/>
          </a:prstGeom>
          <a:solidFill>
            <a:srgbClr val="B84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6980408" y="2185415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01200" y="4014214"/>
            <a:ext cx="7178040" cy="2945135"/>
          </a:xfrm>
          <a:prstGeom prst="roundRect">
            <a:avLst>
              <a:gd name="adj" fmla="val 5000"/>
            </a:avLst>
          </a:prstGeom>
          <a:solidFill>
            <a:srgbClr val="E3F5F6"/>
          </a:solidFill>
          <a:ln w="38100">
            <a:solidFill>
              <a:srgbClr val="1F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29800" y="4123944"/>
            <a:ext cx="6720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1F6F6E"/>
                </a:solidFill>
                <a:latin typeface="Arial"/>
              </a:rPr>
              <a:t>GOVERNANCE IMPACTS AND BENEFITS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4544568"/>
            <a:ext cx="6720840" cy="2379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1. Every department works from the same ranked, explained list of changes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2. Confirm and dismiss decisions build a verified record for each alert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3. Complements pilots such as Madhya Pradesh’s forest alert system (2025)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4. In line with global practice: xView2 and UNOSAT flood mapping</a:t>
            </a:r>
          </a:p>
        </p:txBody>
      </p:sp>
      <p:sp>
        <p:nvSpPr>
          <p:cNvPr id="76" name="Oval 75"/>
          <p:cNvSpPr/>
          <p:nvPr/>
        </p:nvSpPr>
        <p:spPr>
          <a:xfrm>
            <a:off x="16980408" y="4919472"/>
            <a:ext cx="777240" cy="777240"/>
          </a:xfrm>
          <a:prstGeom prst="ellipse">
            <a:avLst/>
          </a:prstGeom>
          <a:solidFill>
            <a:srgbClr val="1F6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6980408" y="4919472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01200" y="6959350"/>
            <a:ext cx="7178040" cy="2578608"/>
          </a:xfrm>
          <a:prstGeom prst="roundRect">
            <a:avLst>
              <a:gd name="adj" fmla="val 5000"/>
            </a:avLst>
          </a:prstGeom>
          <a:solidFill>
            <a:srgbClr val="E9F4E6"/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844087" y="7072643"/>
            <a:ext cx="6720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b="1" i="0">
                <a:solidFill>
                  <a:srgbClr val="2E7D32"/>
                </a:solidFill>
                <a:latin typeface="Arial"/>
              </a:rPr>
              <a:t>ECONOMIC AND ENVIRONMENTAL BENEFITS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9800" y="7457945"/>
            <a:ext cx="6720840" cy="1781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1. No imagery or software licence cost for an agency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2. CPU-only processing, so no GPU server is needed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3. Fewer field trips spent checking false alerts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0" i="0">
                <a:solidFill>
                  <a:srgbClr val="111111"/>
                </a:solidFill>
                <a:latin typeface="Arial"/>
              </a:rPr>
              <a:t>4. Forest, lake and wetland loss is caught while it can still be stopped</a:t>
            </a:r>
          </a:p>
        </p:txBody>
      </p:sp>
      <p:sp>
        <p:nvSpPr>
          <p:cNvPr id="81" name="Oval 80"/>
          <p:cNvSpPr/>
          <p:nvPr/>
        </p:nvSpPr>
        <p:spPr>
          <a:xfrm>
            <a:off x="16980408" y="7653527"/>
            <a:ext cx="777240" cy="7772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6980408" y="7653527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566160" y="320040"/>
            <a:ext cx="1115568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372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AND REFERENCES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448558" y="9639300"/>
            <a:ext cx="19185107" cy="658006"/>
            <a:chOff x="0" y="0"/>
            <a:chExt cx="25580142" cy="877341"/>
          </a:xfrm>
        </p:grpSpPr>
        <p:sp>
          <p:nvSpPr>
            <p:cNvPr id="6" name="AutoShape 6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w="863600" cap="rnd">
              <a:solidFill>
                <a:srgbClr val="379B9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9543" cy="789686"/>
              </a:xfrm>
              <a:custGeom>
                <a:avLst/>
                <a:gdLst/>
                <a:ahLst/>
                <a:cxnLst/>
                <a:rect l="l" t="t" r="r" b="b"/>
                <a:pathLst>
                  <a:path w="2439543" h="789686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248" b="-4"/>
                </a:stretch>
              </a:blipFill>
            </p:spPr>
          </p:sp>
        </p:grpSp>
      </p:grpSp>
      <p:grpSp>
        <p:nvGrpSpPr>
          <p:cNvPr id="9" name="Group 9"/>
          <p:cNvGrpSpPr/>
          <p:nvPr/>
        </p:nvGrpSpPr>
        <p:grpSpPr>
          <a:xfrm>
            <a:off x="15511797" y="109032"/>
            <a:ext cx="2651295" cy="919668"/>
            <a:chOff x="0" y="0"/>
            <a:chExt cx="3535060" cy="1226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35060" cy="1226224"/>
            </a:xfrm>
            <a:custGeom>
              <a:avLst/>
              <a:gdLst/>
              <a:ahLst/>
              <a:cxnLst/>
              <a:rect l="l" t="t" r="r" b="b"/>
              <a:pathLst>
                <a:path w="3535060" h="1226224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2608279" y="860043"/>
              <a:ext cx="713581" cy="366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99320" y="3801"/>
            <a:ext cx="3511729" cy="1130129"/>
            <a:chOff x="0" y="0"/>
            <a:chExt cx="4682305" cy="1506839"/>
          </a:xfrm>
        </p:grpSpPr>
        <p:grpSp>
          <p:nvGrpSpPr>
            <p:cNvPr id="13" name="Group 13"/>
            <p:cNvGrpSpPr/>
            <p:nvPr/>
          </p:nvGrpSpPr>
          <p:grpSpPr>
            <a:xfrm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id="14" name="Freeform 14">
                <a:hlinkClick r:id="rId5" tooltip="https://canva.link/zc2tuqkq342gdsm"/>
              </p:cNvPr>
              <p:cNvSpPr/>
              <p:nvPr/>
            </p:nvSpPr>
            <p:spPr>
              <a:xfrm>
                <a:off x="0" y="0"/>
                <a:ext cx="780542" cy="702437"/>
              </a:xfrm>
              <a:custGeom>
                <a:avLst/>
                <a:gdLst/>
                <a:ahLst/>
                <a:cxnLst/>
                <a:rect l="l" t="t" r="r" b="b"/>
                <a:pathLst>
                  <a:path w="780542" h="702437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3" b="-3"/>
                </a:stretch>
              </a:blip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062226" cy="577088"/>
              </a:xfrm>
              <a:custGeom>
                <a:avLst/>
                <a:gdLst/>
                <a:ahLst/>
                <a:cxnLst/>
                <a:rect l="l" t="t" r="r" b="b"/>
                <a:pathLst>
                  <a:path w="2062226" h="577088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25" r="-3" b="-121"/>
                </a:stretch>
              </a:blip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94535" cy="1591183"/>
              </a:xfrm>
              <a:custGeom>
                <a:avLst/>
                <a:gdLst/>
                <a:ahLst/>
                <a:cxnLst/>
                <a:rect l="l" t="t" r="r" b="b"/>
                <a:pathLst>
                  <a:path w="1994535" h="1591183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2672" r="1" b="-12674"/>
                </a:stretch>
              </a:blipFill>
            </p:spPr>
          </p:sp>
        </p:grpSp>
      </p:grpSp>
      <p:sp>
        <p:nvSpPr>
          <p:cNvPr id="19" name="TextBox 18"/>
          <p:cNvSpPr txBox="1"/>
          <p:nvPr/>
        </p:nvSpPr>
        <p:spPr>
          <a:xfrm>
            <a:off x="822960" y="15544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 i="0">
                <a:solidFill>
                  <a:srgbClr val="1F6F6E"/>
                </a:solidFill>
                <a:latin typeface="Arial"/>
              </a:rPr>
              <a:t>Research, models and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148840"/>
            <a:ext cx="8046720" cy="7040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Tang et al., 2026.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Shield: unsupervised disaster change detection. J. Remote Sensing 6, 0929.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9"/>
              </a:rPr>
              <a:t>https://doi.org/10.34133/remotesensing.0929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Goudemant et al., 2026.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Embedded bi-temporal building damage assessment. arXiv:2609.37013.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0"/>
              </a:rPr>
              <a:t>https://arxiv.org/abs/2609.37013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Byun, Han and Chae, 2015.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Image fusion-based change detection for flood extent. Remote Sensing 7.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1"/>
              </a:rPr>
              <a:t>https://doi.org/10.3390/rs70810347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Chen et al., 2021.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BIT change detection model and pretrained weights. IEEE TGRS.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2"/>
              </a:rPr>
              <a:t>https://github.com/justchenhao/BIT_CD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LEVIR-CD.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Building change detection dataset (listed in the problem statement).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3"/>
              </a:rPr>
              <a:t>https://justchenhao.github.io/LEVIR/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Daudt et al., 2018.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Onera OSCD: Sentinel-2 change detection dataset.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4"/>
              </a:rPr>
              <a:t>https://www.kaggle.com/datasets/soumikrakshit/onera-satellite-change-detection-dataset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Bonafilia et al., 2020.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Sen1Floods11: hand-labelled Sentinel-1 flood dataset.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5"/>
              </a:rPr>
              <a:t>https://github.com/cloudtostreet/Sen1Floods11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5544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 i="0">
                <a:solidFill>
                  <a:srgbClr val="1F6F6E"/>
                </a:solidFill>
                <a:latin typeface="Arial"/>
              </a:rPr>
              <a:t>Evidence of need and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148840"/>
            <a:ext cx="8046720" cy="7040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Factly, from CWC data.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Flood damage, lives lost and area affected in India, 1953 to 2021.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6"/>
              </a:rPr>
              <a:t>https://factly.in/data-average-annual-economic-impact-due-to-floods-is-more-than-rs-25000-crores-after-the-year-2010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World Bank, July 2025.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Towards Resilient and Prosperous Cities in India.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7"/>
              </a:rPr>
              <a:t>https://www.worldbank.org/en/news/press-release/2025/07/22/india-has-a-critical-opportunity-to-drive-resilient-urban-development-says-new-world-bank-report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Millennium Post.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Wetlands at the Crossroads (Chennai wetland loss).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8"/>
              </a:rPr>
              <a:t>https://www.millenniumpost.in/opinion/wetlands-at-the-crossroads-654371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Business Standard, April 2025.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Madhya Pradesh AI forest alert system.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19"/>
              </a:rPr>
              <a:t>https://www.business-standard.com/india-news/mp-first-state-to-launch-ai-based-real-time-forest-alert-system-officials-125042900640_1.html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Indian Masterminds, June 2025.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Early accuracy of the Madhya Pradesh alert pilot.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20"/>
              </a:rPr>
              <a:t>https://indianmasterminds.com/feature-stories-on-bureaucrats-changemakers/from-code-to-conservation-how-this-ifs-officer-is-using-ai-satellite-data-to-fight-deforestation-in-mp-121910/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FedScoop, 2019.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xView2 building damage challenge.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21"/>
              </a:rPr>
              <a:t>https://fedscoop.com/xview2-challenge-building-damage-disaster-recovery/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650" b="1" i="0">
                <a:solidFill>
                  <a:srgbClr val="111111"/>
                </a:solidFill>
                <a:latin typeface="Arial"/>
              </a:rPr>
              <a:t>UNITAR, 2020.</a:t>
            </a:r>
            <a:r>
              <a:rPr sz="1650" b="0" i="0">
                <a:solidFill>
                  <a:srgbClr val="111111"/>
                </a:solidFill>
                <a:latin typeface="Arial"/>
              </a:rPr>
              <a:t>  UNOSAT AI flood rapid mapping.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50" b="0" i="0">
                <a:solidFill>
                  <a:srgbClr val="1F6F6E"/>
                </a:solidFill>
                <a:latin typeface="Arial"/>
                <a:hlinkClick r:id="rId22"/>
              </a:rPr>
              <a:t>https://unitar.org/about/news-stories/news/unosat-introduces-ai-its-flood-rapid-mapping-operations-benefit-national-disaster-management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1754</Words>
  <Application>Microsoft Office PowerPoint</Application>
  <PresentationFormat>Custom</PresentationFormat>
  <Paragraphs>260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Saira Stencil One</vt:lpstr>
      <vt:lpstr>Arial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Fusion participants PPT.pptx</dc:title>
  <cp:lastModifiedBy>Vedashree bhanage</cp:lastModifiedBy>
  <cp:revision>6</cp:revision>
  <dcterms:created xsi:type="dcterms:W3CDTF">2006-08-16T00:00:00Z</dcterms:created>
  <dcterms:modified xsi:type="dcterms:W3CDTF">2026-10-09T16:19:21Z</dcterms:modified>
  <dc:identifier>DAHXf8nMu70</dc:identifier>
</cp:coreProperties>
</file>